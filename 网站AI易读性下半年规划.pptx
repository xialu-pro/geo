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95757"/>
                </a:solidFill>
                <a:latin typeface="Microsoft YaHei"/>
              </a:defRPr>
            </a:pPr>
            <a:r>
              <a:t>开源社区体验组 · 下半年规划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115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8102E"/>
                </a:solidFill>
                <a:latin typeface="Microsoft YaHei"/>
              </a:defRPr>
            </a:pPr>
            <a:r>
              <a:t>网站AI易读性建设</a:t>
            </a:r>
            <a:br/>
            <a:r>
              <a:t>下半年规划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31815"/>
                </a:solidFill>
                <a:latin typeface="Microsoft YaHei"/>
              </a:defRPr>
            </a:pPr>
            <a:r>
              <a:t>从“可检索”迈向“可理解、可引用、可推荐”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95757"/>
                </a:solidFill>
                <a:latin typeface="Microsoft YaHei"/>
              </a:defRPr>
            </a:pPr>
            <a:r>
              <a:t>汇报人：开源社区体验负责人 · 2026 H2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5303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1815"/>
                </a:solidFill>
                <a:latin typeface="Microsoft YaHei"/>
              </a:defRPr>
            </a:pPr>
            <a:r>
              <a:t>体验设计侧 × 文档侧 双轮驱动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98989"/>
                </a:solidFill>
                <a:latin typeface="Microsoft YaHei"/>
              </a:defRPr>
            </a:pPr>
            <a:r>
              <a:t>开源社区 · 体验组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98989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8102E"/>
                </a:solidFill>
                <a:latin typeface="Microsoft YaHei"/>
              </a:defRPr>
            </a:pPr>
            <a:r>
              <a:t>AI问答已成流量新入口，易读性决定社区能否被“正确回答”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0">
                <a:solidFill>
                  <a:srgbClr val="231815"/>
                </a:solidFill>
                <a:latin typeface="Microsoft YaHei"/>
              </a:rPr>
              <a:t>AI搜索引擎与助手月活已达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1">
                <a:solidFill>
                  <a:srgbClr val="C8102E"/>
                </a:solidFill>
                <a:latin typeface="Microsoft YaHei"/>
              </a:rPr>
              <a:t>数亿级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0">
                <a:solidFill>
                  <a:srgbClr val="231815"/>
                </a:solidFill>
                <a:latin typeface="Microsoft YaHei"/>
              </a:rPr>
              <a:t>，“零点击回答”占比持续攀升；社区内容能否被AI准确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1">
                <a:solidFill>
                  <a:srgbClr val="C8102E"/>
                </a:solidFill>
                <a:latin typeface="Microsoft YaHei"/>
              </a:rPr>
              <a:t>理解、引用、推荐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0">
                <a:solidFill>
                  <a:srgbClr val="231815"/>
                </a:solidFill>
                <a:latin typeface="Microsoft YaHei"/>
              </a:rPr>
              <a:t>，直接决定下一个周期的曝光与开发者来源。可检索只解决“找不找得到”，易读性解决“用不用得对”。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8102E"/>
                </a:solidFill>
                <a:latin typeface="Microsoft YaHei"/>
              </a:defRPr>
            </a:pPr>
            <a:r>
              <a:t>▷ 趋势判断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入口迁移：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开发者首问正在从“搜索引擎”转向“AI助手”，AI引用成为新的分发位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零点击化：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用户在AI回答中即获结论，不点进站点，被正确引用比被点击更关键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答错即流失：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AI读懂错会把流量与口碑导向竞品，社区名字不被提及=隐形退出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先发壁垒：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谁先让AI“读得准”，谁就沉淀为AI的默认知识源，形成长期引用惯性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57600"/>
            <a:ext cx="2702483" cy="100584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759200"/>
            <a:ext cx="27024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8102E"/>
                </a:solidFill>
                <a:latin typeface="Microsoft YaHei"/>
              </a:defRPr>
            </a:pPr>
            <a:r>
              <a:t>亿级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27024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主流AI助手月活规模</a:t>
            </a:r>
            <a:br/>
            <a:r>
              <a:t>开发者问答高频入口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7963" y="3657600"/>
            <a:ext cx="2702483" cy="100584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7963" y="3759200"/>
            <a:ext cx="27024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8102E"/>
                </a:solidFill>
                <a:latin typeface="Microsoft YaHei"/>
              </a:defRPr>
            </a:pPr>
            <a:r>
              <a:t>↑↑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7963" y="4114800"/>
            <a:ext cx="27024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“零点击回答”占比</a:t>
            </a:r>
            <a:br/>
            <a:r>
              <a:t>逐年抬升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5847" y="3657600"/>
            <a:ext cx="2702483" cy="100584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5847" y="3759200"/>
            <a:ext cx="27024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8102E"/>
                </a:solidFill>
                <a:latin typeface="Microsoft YaHei"/>
              </a:defRPr>
            </a:pPr>
            <a:r>
              <a:t>读懂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7" y="4114800"/>
            <a:ext cx="27024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H1解决“可检索”</a:t>
            </a:r>
            <a:br/>
            <a:r>
              <a:t>H2攻坚“可理解”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23731" y="3657600"/>
            <a:ext cx="2702483" cy="100584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731" y="3759200"/>
            <a:ext cx="27024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8102E"/>
                </a:solidFill>
                <a:latin typeface="Microsoft YaHei"/>
              </a:defRPr>
            </a:pPr>
            <a:r>
              <a:t>引用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731" y="4114800"/>
            <a:ext cx="27024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被AI正确复述</a:t>
            </a:r>
            <a:br/>
            <a:r>
              <a:t>才是有效曝光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937760"/>
            <a:ext cx="10911535" cy="25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03936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31815"/>
                </a:solidFill>
                <a:latin typeface="Microsoft YaHei"/>
              </a:rPr>
              <a:t>判断：易读性是AI时代的</a:t>
            </a:r>
            <a:r>
              <a:rPr sz="1200" b="1">
                <a:solidFill>
                  <a:srgbClr val="C8102E"/>
                </a:solidFill>
                <a:latin typeface="Microsoft YaHei"/>
              </a:rPr>
              <a:t>新SEO</a:t>
            </a:r>
            <a:r>
              <a:rPr sz="1200" b="0">
                <a:solidFill>
                  <a:srgbClr val="231815"/>
                </a:solidFill>
                <a:latin typeface="Microsoft YaHei"/>
              </a:rPr>
              <a:t>，下半年必须从“可检索”升级到“可理解、可引用、可推荐”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98989"/>
                </a:solidFill>
                <a:latin typeface="Microsoft YaHei"/>
              </a:defRPr>
            </a:pPr>
            <a:r>
              <a:t>开源社区 · 体验组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98989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8102E"/>
                </a:solidFill>
                <a:latin typeface="Microsoft YaHei"/>
              </a:defRPr>
            </a:pPr>
            <a:r>
              <a:t>可检索基础已建成，“读不懂、用不对”的易读性缺口显现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0">
                <a:solidFill>
                  <a:srgbClr val="231815"/>
                </a:solidFill>
                <a:latin typeface="Microsoft YaHei"/>
              </a:rPr>
              <a:t>上半年围绕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1">
                <a:solidFill>
                  <a:srgbClr val="C8102E"/>
                </a:solidFill>
                <a:latin typeface="Microsoft YaHei"/>
              </a:rPr>
              <a:t>可检索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0">
                <a:solidFill>
                  <a:srgbClr val="231815"/>
                </a:solidFill>
                <a:latin typeface="Microsoft YaHei"/>
              </a:rPr>
              <a:t>完成六大前端手段，AI“找得到、索引得到”的问题基本解决；但AI“读得懂、用得对”的缺口集中暴露在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1">
                <a:solidFill>
                  <a:srgbClr val="C8102E"/>
                </a:solidFill>
                <a:latin typeface="Microsoft YaHei"/>
              </a:rPr>
              <a:t>语义结构、上下文、代码可执行、术语一致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0">
                <a:solidFill>
                  <a:srgbClr val="231815"/>
                </a:solidFill>
                <a:latin typeface="Microsoft YaHei"/>
              </a:rPr>
              <a:t>四方面。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5404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102E"/>
                </a:solidFill>
                <a:latin typeface="Microsoft YaHei"/>
              </a:defRPr>
            </a:pPr>
            <a:r>
              <a:t>▷ 上半年已建成 · 可检索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404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静态化页面：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核心页SSR/预渲染，爬虫可直取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404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Robots.txt：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抓取范围与禁爬区明确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404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Sitemap：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全站URL分层、更新频率标注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5404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TDK：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标题/描述/关键词规范化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5404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Schema：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结构化数据覆盖核心页型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5404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llms.txt：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llms.txt / llms-full.txt 已上线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540496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98989"/>
                </a:solidFill>
                <a:latin typeface="Microsoft YaHei"/>
              </a:defRPr>
            </a:pPr>
            <a:r>
              <a:t>结论：AI“能不能找到”已闭环。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6647" y="1691640"/>
            <a:ext cx="5404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102E"/>
                </a:solidFill>
                <a:latin typeface="Microsoft YaHei"/>
              </a:defRPr>
            </a:pPr>
            <a:r>
              <a:t>▷ 下半年待补齐 · 易读性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6647" y="2011680"/>
            <a:ext cx="5404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语义结构：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DOM层级与视觉层级不一致，AI难判重点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6647" y="2286000"/>
            <a:ext cx="5404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答感内容：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缺结论先行摘要，AI只能截取片段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6647" y="2560320"/>
            <a:ext cx="5404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动态内容：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关键信息靠JS交互渲染，AI解析不到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6647" y="2834640"/>
            <a:ext cx="5404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上下文：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文档不自完备，AI抽出片段即失语境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6647" y="3108960"/>
            <a:ext cx="5404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代码示例：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片段不可运行，AI无法验证与复用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6647" y="3383280"/>
            <a:ext cx="54049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术语消歧：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同一概念多名混用，AI易张冠李戴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6647" y="3749039"/>
            <a:ext cx="540496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8102E"/>
                </a:solidFill>
                <a:latin typeface="Microsoft YaHei"/>
              </a:defRPr>
            </a:pPr>
            <a:r>
              <a:t>缺口：AI“用不用得对”尚未解决。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937760"/>
            <a:ext cx="10911535" cy="25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3936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31815"/>
                </a:solidFill>
                <a:latin typeface="Microsoft YaHei"/>
              </a:rPr>
              <a:t>承上启下：上半年让AI</a:t>
            </a:r>
            <a:r>
              <a:rPr sz="1200" b="1">
                <a:solidFill>
                  <a:srgbClr val="C8102E"/>
                </a:solidFill>
                <a:latin typeface="Microsoft YaHei"/>
              </a:rPr>
              <a:t>找得到</a:t>
            </a:r>
            <a:r>
              <a:rPr sz="1200" b="0">
                <a:solidFill>
                  <a:srgbClr val="231815"/>
                </a:solidFill>
                <a:latin typeface="Microsoft YaHei"/>
              </a:rPr>
              <a:t>，下半年让AI</a:t>
            </a:r>
            <a:r>
              <a:rPr sz="1200" b="1">
                <a:solidFill>
                  <a:srgbClr val="C8102E"/>
                </a:solidFill>
                <a:latin typeface="Microsoft YaHei"/>
              </a:rPr>
              <a:t>读得懂、引得准、推得动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98989"/>
                </a:solidFill>
                <a:latin typeface="Microsoft YaHei"/>
              </a:defRPr>
            </a:pPr>
            <a:r>
              <a:t>开源社区 · 体验组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98989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8102E"/>
                </a:solidFill>
                <a:latin typeface="Microsoft YaHei"/>
              </a:defRPr>
            </a:pPr>
            <a:r>
              <a:t>半年内让AI从“找到”升级为“读懂、引用、推荐”社区内容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0">
                <a:solidFill>
                  <a:srgbClr val="231815"/>
                </a:solidFill>
                <a:latin typeface="Microsoft YaHei"/>
              </a:rPr>
              <a:t>以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1">
                <a:solidFill>
                  <a:srgbClr val="C8102E"/>
                </a:solidFill>
                <a:latin typeface="Microsoft YaHei"/>
              </a:rPr>
              <a:t>体验设计侧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0">
                <a:solidFill>
                  <a:srgbClr val="231815"/>
                </a:solidFill>
                <a:latin typeface="Microsoft YaHei"/>
              </a:rPr>
              <a:t>与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1">
                <a:solidFill>
                  <a:srgbClr val="C8102E"/>
                </a:solidFill>
                <a:latin typeface="Microsoft YaHei"/>
              </a:rPr>
              <a:t>文档侧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0">
                <a:solidFill>
                  <a:srgbClr val="231815"/>
                </a:solidFill>
                <a:latin typeface="Microsoft YaHei"/>
              </a:rPr>
              <a:t>双轮驱动，年底前核心内容AI可读性评分达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1">
                <a:solidFill>
                  <a:srgbClr val="C8102E"/>
                </a:solidFill>
                <a:latin typeface="Microsoft YaHei"/>
              </a:rPr>
              <a:t>85分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0">
                <a:solidFill>
                  <a:srgbClr val="231815"/>
                </a:solidFill>
                <a:latin typeface="Microsoft YaHei"/>
              </a:rPr>
              <a:t>，AI引用准确率较基线提升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1">
                <a:solidFill>
                  <a:srgbClr val="C8102E"/>
                </a:solidFill>
                <a:latin typeface="Microsoft YaHei"/>
              </a:rPr>
              <a:t>50%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0">
                <a:solidFill>
                  <a:srgbClr val="231815"/>
                </a:solidFill>
                <a:latin typeface="Microsoft YaHei"/>
              </a:rPr>
              <a:t>，核心场景进入主流AI助手默认回答源。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8102E"/>
                </a:solidFill>
                <a:latin typeface="Microsoft YaHei"/>
              </a:defRPr>
            </a:pPr>
            <a:r>
              <a:t>▷ 三阶目标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3560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102E"/>
                </a:solidFill>
                <a:latin typeface="Microsoft YaHei"/>
              </a:defRPr>
            </a:pPr>
            <a:r>
              <a:t>▷ 读懂 · Understand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560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语义对齐：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DOM语义与视觉层级一致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3560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上下文完备：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单页/单文档可独立被理解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3560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术语统一：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全站同一概念同一名称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2658" y="2011680"/>
            <a:ext cx="3560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102E"/>
                </a:solidFill>
                <a:latin typeface="Microsoft YaHei"/>
              </a:defRPr>
            </a:pPr>
            <a:r>
              <a:t>▷ 引用 · Cite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2658" y="2377440"/>
            <a:ext cx="3560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答感结构：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结论先行+可截取摘要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2658" y="2651760"/>
            <a:ext cx="3560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稳定锚点：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语义化permalink与#锚点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2658" y="2926080"/>
            <a:ext cx="3560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可执行代码：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示例可运行、可验证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65236" y="2011680"/>
            <a:ext cx="3560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102E"/>
                </a:solidFill>
                <a:latin typeface="Microsoft YaHei"/>
              </a:defRPr>
            </a:pPr>
            <a:r>
              <a:t>▷ 推荐 · Recommend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65236" y="2377440"/>
            <a:ext cx="3560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llms.txt深化：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分级优先内容地图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65236" y="2651760"/>
            <a:ext cx="3560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FAQ场景化：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高频问题Q&amp;A式直答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65236" y="2926080"/>
            <a:ext cx="3560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时效信号：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版本/更新/弃用机器可读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657600"/>
            <a:ext cx="2702483" cy="100584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59200"/>
            <a:ext cx="27024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8102E"/>
                </a:solidFill>
                <a:latin typeface="Microsoft YaHei"/>
              </a:defRPr>
            </a:pPr>
            <a:r>
              <a:t>85分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14800"/>
            <a:ext cx="27024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核心内容AI可读性评分</a:t>
            </a:r>
            <a:br/>
            <a:r>
              <a:t>年底目标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67963" y="3657600"/>
            <a:ext cx="2702483" cy="100584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67963" y="3759200"/>
            <a:ext cx="27024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8102E"/>
                </a:solidFill>
                <a:latin typeface="Microsoft YaHei"/>
              </a:defRPr>
            </a:pPr>
            <a:r>
              <a:t>+50%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7963" y="4114800"/>
            <a:ext cx="27024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AI引用准确率</a:t>
            </a:r>
            <a:br/>
            <a:r>
              <a:t>较基线提升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5847" y="3657600"/>
            <a:ext cx="2702483" cy="100584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5847" y="3759200"/>
            <a:ext cx="27024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8102E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5847" y="4114800"/>
            <a:ext cx="27024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核心文档frontmatter</a:t>
            </a:r>
            <a:br/>
            <a:r>
              <a:t>结构合规率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23731" y="3657600"/>
            <a:ext cx="2702483" cy="100584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731" y="3759200"/>
            <a:ext cx="27024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8102E"/>
                </a:solidFill>
                <a:latin typeface="Microsoft YaHei"/>
              </a:defRPr>
            </a:pPr>
            <a:r>
              <a:t>TOP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731" y="4114800"/>
            <a:ext cx="27024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核心场景进入主流</a:t>
            </a:r>
            <a:br/>
            <a:r>
              <a:t>AI助手默认回答源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98989"/>
                </a:solidFill>
                <a:latin typeface="Microsoft YaHei"/>
              </a:defRPr>
            </a:pPr>
            <a:r>
              <a:t>开源社区 · 体验组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98989"/>
                </a:solidFill>
                <a:latin typeface="Microsoft Ya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8102E"/>
                </a:solidFill>
                <a:latin typeface="Microsoft YaHei"/>
              </a:defRPr>
            </a:pPr>
            <a:r>
              <a:t>体验设计侧与文档侧双轮驱动，共筑AI易读性底座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0">
                <a:solidFill>
                  <a:srgbClr val="231815"/>
                </a:solidFill>
                <a:latin typeface="Microsoft YaHei"/>
              </a:rPr>
              <a:t>两侧共享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1">
                <a:solidFill>
                  <a:srgbClr val="C8102E"/>
                </a:solidFill>
                <a:latin typeface="Microsoft YaHei"/>
              </a:rPr>
              <a:t>同一套语义标准与术语表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0">
                <a:solidFill>
                  <a:srgbClr val="231815"/>
                </a:solidFill>
                <a:latin typeface="Microsoft YaHei"/>
              </a:rPr>
              <a:t>，避免页面与文档各说各话；通过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1">
                <a:solidFill>
                  <a:srgbClr val="C8102E"/>
                </a:solidFill>
                <a:latin typeface="Microsoft YaHei"/>
              </a:rPr>
              <a:t>前置度量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0">
                <a:solidFill>
                  <a:srgbClr val="231815"/>
                </a:solidFill>
                <a:latin typeface="Microsoft YaHei"/>
              </a:rPr>
              <a:t>与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1">
                <a:solidFill>
                  <a:srgbClr val="C8102E"/>
                </a:solidFill>
                <a:latin typeface="Microsoft YaHei"/>
              </a:rPr>
              <a:t>OWNER制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0">
                <a:solidFill>
                  <a:srgbClr val="231815"/>
                </a:solidFill>
                <a:latin typeface="Microsoft YaHei"/>
              </a:rPr>
              <a:t>确保措施落地不脱节。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8102E"/>
                </a:solidFill>
                <a:latin typeface="Microsoft YaHei"/>
              </a:defRPr>
            </a:pPr>
            <a:r>
              <a:t>▷ 协同机制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1097280" cy="411480"/>
          </a:xfrm>
          <a:prstGeom prst="rect">
            <a:avLst/>
          </a:prstGeom>
          <a:solidFill>
            <a:srgbClr val="DDDDDD"/>
          </a:solidFill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880" y="192531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102E"/>
                </a:solidFill>
                <a:latin typeface="Microsoft YaHei"/>
              </a:defRPr>
            </a:pPr>
            <a:r>
              <a:t>共同标准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874519"/>
            <a:ext cx="2379903" cy="41148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600" y="1925319"/>
            <a:ext cx="2278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1815"/>
                </a:solidFill>
                <a:latin typeface="Microsoft YaHei"/>
              </a:defRPr>
            </a:pPr>
            <a:r>
              <a:t>统一术语表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9503" y="1874519"/>
            <a:ext cx="2379903" cy="41148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0303" y="1925319"/>
            <a:ext cx="2278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1815"/>
                </a:solidFill>
                <a:latin typeface="Microsoft YaHei"/>
              </a:defRPr>
            </a:pPr>
            <a:r>
              <a:t>统一frontmatter/元信息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90207" y="1874519"/>
            <a:ext cx="2379903" cy="41148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1007" y="1925319"/>
            <a:ext cx="2278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1815"/>
                </a:solidFill>
                <a:latin typeface="Microsoft YaHei"/>
              </a:defRPr>
            </a:pPr>
            <a:r>
              <a:t>统一语义化结构规范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20911" y="1874519"/>
            <a:ext cx="2379903" cy="41148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71711" y="1925319"/>
            <a:ext cx="2278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1815"/>
                </a:solidFill>
                <a:latin typeface="Microsoft YaHei"/>
              </a:defRPr>
            </a:pPr>
            <a:r>
              <a:t>统一引用锚点规则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377439"/>
            <a:ext cx="1097280" cy="411480"/>
          </a:xfrm>
          <a:prstGeom prst="rect">
            <a:avLst/>
          </a:prstGeom>
          <a:solidFill>
            <a:srgbClr val="DDDDDD"/>
          </a:solidFill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880" y="242823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102E"/>
                </a:solidFill>
                <a:latin typeface="Microsoft YaHei"/>
              </a:defRPr>
            </a:pPr>
            <a:r>
              <a:t>体验设计侧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2377439"/>
            <a:ext cx="2379903" cy="41148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79600" y="2428239"/>
            <a:ext cx="2278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1815"/>
                </a:solidFill>
                <a:latin typeface="Microsoft YaHei"/>
              </a:defRPr>
            </a:pPr>
            <a:r>
              <a:t>语义结构对齐视觉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9503" y="2377439"/>
            <a:ext cx="2379903" cy="41148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0303" y="2428239"/>
            <a:ext cx="2278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1815"/>
                </a:solidFill>
                <a:latin typeface="Microsoft YaHei"/>
              </a:defRPr>
            </a:pPr>
            <a:r>
              <a:t>答感内容模板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90207" y="2377439"/>
            <a:ext cx="2379903" cy="41148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1007" y="2428239"/>
            <a:ext cx="2278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1815"/>
                </a:solidFill>
                <a:latin typeface="Microsoft YaHei"/>
              </a:defRPr>
            </a:pPr>
            <a:r>
              <a:t>动态内容可解析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20911" y="2377439"/>
            <a:ext cx="2379903" cy="41148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71711" y="2428239"/>
            <a:ext cx="2278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1815"/>
                </a:solidFill>
                <a:latin typeface="Microsoft YaHei"/>
              </a:defRPr>
            </a:pPr>
            <a:r>
              <a:t>a11y即AI可读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880359"/>
            <a:ext cx="1097280" cy="411480"/>
          </a:xfrm>
          <a:prstGeom prst="rect">
            <a:avLst/>
          </a:prstGeom>
          <a:solidFill>
            <a:srgbClr val="DDDDDD"/>
          </a:solidFill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880" y="293115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102E"/>
                </a:solidFill>
                <a:latin typeface="Microsoft YaHei"/>
              </a:defRPr>
            </a:pPr>
            <a:r>
              <a:t>文档侧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2880359"/>
            <a:ext cx="2379903" cy="41148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79600" y="2931159"/>
            <a:ext cx="2278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1815"/>
                </a:solidFill>
                <a:latin typeface="Microsoft YaHei"/>
              </a:defRPr>
            </a:pPr>
            <a:r>
              <a:t>结构标准化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9503" y="2880359"/>
            <a:ext cx="2379903" cy="41148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10303" y="2931159"/>
            <a:ext cx="2278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1815"/>
                </a:solidFill>
                <a:latin typeface="Microsoft YaHei"/>
              </a:defRPr>
            </a:pPr>
            <a:r>
              <a:t>上下文自完备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90207" y="2880359"/>
            <a:ext cx="2379903" cy="41148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41007" y="2931159"/>
            <a:ext cx="2278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1815"/>
                </a:solidFill>
                <a:latin typeface="Microsoft YaHei"/>
              </a:defRPr>
            </a:pPr>
            <a:r>
              <a:t>代码可执行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20911" y="2880359"/>
            <a:ext cx="2379903" cy="41148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71711" y="2931159"/>
            <a:ext cx="2278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1815"/>
                </a:solidFill>
                <a:latin typeface="Microsoft YaHei"/>
              </a:defRPr>
            </a:pPr>
            <a:r>
              <a:t>FAQ场景化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383279"/>
            <a:ext cx="1097280" cy="411480"/>
          </a:xfrm>
          <a:prstGeom prst="rect">
            <a:avLst/>
          </a:prstGeom>
          <a:solidFill>
            <a:srgbClr val="DDDDDD"/>
          </a:solidFill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0880" y="343407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102E"/>
                </a:solidFill>
                <a:latin typeface="Microsoft YaHei"/>
              </a:defRPr>
            </a:pPr>
            <a:r>
              <a:t>度量闭环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0" y="3383279"/>
            <a:ext cx="2379903" cy="41148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79600" y="3434079"/>
            <a:ext cx="2278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1815"/>
                </a:solidFill>
                <a:latin typeface="Microsoft YaHei"/>
              </a:defRPr>
            </a:pPr>
            <a:r>
              <a:t>AI可读性评分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9503" y="3383279"/>
            <a:ext cx="2379903" cy="41148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10303" y="3434079"/>
            <a:ext cx="2278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1815"/>
                </a:solidFill>
                <a:latin typeface="Microsoft YaHei"/>
              </a:defRPr>
            </a:pPr>
            <a:r>
              <a:t>引用准确率抽测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90207" y="3383279"/>
            <a:ext cx="2379903" cy="41148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41007" y="3434079"/>
            <a:ext cx="2278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1815"/>
                </a:solidFill>
                <a:latin typeface="Microsoft YaHei"/>
              </a:defRPr>
            </a:pPr>
            <a:r>
              <a:t>AI来源曝光监测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20911" y="3383279"/>
            <a:ext cx="2379903" cy="41148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71711" y="3434079"/>
            <a:ext cx="22783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1815"/>
                </a:solidFill>
                <a:latin typeface="Microsoft YaHei"/>
              </a:defRPr>
            </a:pPr>
            <a:r>
              <a:t>周度迭代看板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640080" y="4114800"/>
          <a:ext cx="1033272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3200400"/>
                <a:gridCol w="256032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体验设计侧交付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文档侧交付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共同证据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结构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语义化DOM+层级审计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frontmatter标准+模板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合规率100%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答感摘要+可截取块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TL;DR+适用范围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摘要覆盖率100%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引用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稳定锚点+permalink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可执行代码示例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引用准确率+50%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98989"/>
                </a:solidFill>
                <a:latin typeface="Microsoft YaHei"/>
              </a:defRPr>
            </a:pPr>
            <a:r>
              <a:t>开源社区 · 体验组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98989"/>
                </a:solidFill>
                <a:latin typeface="Microsoft Ya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8102E"/>
                </a:solidFill>
                <a:latin typeface="Microsoft YaHei"/>
              </a:defRPr>
            </a:pPr>
            <a:r>
              <a:t>体验设计侧：以语义化结构与答感设计，让页面“对AI说话”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0">
                <a:solidFill>
                  <a:srgbClr val="231815"/>
                </a:solidFill>
                <a:latin typeface="Microsoft YaHei"/>
              </a:rPr>
              <a:t>六项措施围绕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1">
                <a:solidFill>
                  <a:srgbClr val="C8102E"/>
                </a:solidFill>
                <a:latin typeface="Microsoft YaHei"/>
              </a:rPr>
              <a:t>结构可判、内容可截、动态可解析、引用可锚、术语可消歧、无障碍即AI可读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0">
                <a:solidFill>
                  <a:srgbClr val="231815"/>
                </a:solidFill>
                <a:latin typeface="Microsoft YaHei"/>
              </a:rPr>
              <a:t>，把“给人看”的页面同时变成“给AI读”的结构化数据。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53795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102E"/>
                </a:solidFill>
                <a:latin typeface="Microsoft YaHei"/>
              </a:defRPr>
            </a:pPr>
            <a:r>
              <a:t>▷ 结构与内容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7956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102E"/>
                </a:solidFill>
                <a:latin typeface="Microsoft YaHei"/>
              </a:rPr>
              <a:t>①</a:t>
            </a:r>
            <a:r>
              <a:rPr sz="1100" b="1">
                <a:solidFill>
                  <a:srgbClr val="C8102E"/>
                </a:solidFill>
                <a:latin typeface="Microsoft YaHei"/>
              </a:rPr>
              <a:t> 语义结构对齐：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article/section/nav与视觉层级一致，h1–h3不跳级，AI可判重点。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537956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102E"/>
                </a:solidFill>
                <a:latin typeface="Microsoft YaHei"/>
              </a:rPr>
              <a:t>②</a:t>
            </a:r>
            <a:r>
              <a:rPr sz="1100" b="1">
                <a:solidFill>
                  <a:srgbClr val="C8102E"/>
                </a:solidFill>
                <a:latin typeface="Microsoft YaHei"/>
              </a:rPr>
              <a:t> 答感内容设计：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每页置“结论先行”摘要块，关键问题用问句作标题，便于AI直答截取。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537956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102E"/>
                </a:solidFill>
                <a:latin typeface="Microsoft YaHei"/>
              </a:rPr>
              <a:t>③</a:t>
            </a:r>
            <a:r>
              <a:rPr sz="1100" b="1">
                <a:solidFill>
                  <a:srgbClr val="C8102E"/>
                </a:solidFill>
                <a:latin typeface="Microsoft YaHei"/>
              </a:rPr>
              <a:t> 动态内容可解析：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关键信息不依赖JS交互，Tab/折叠/弹窗核心内容进首屏HTML或提供可读回退。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047" y="1508760"/>
            <a:ext cx="53795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102E"/>
                </a:solidFill>
                <a:latin typeface="Microsoft YaHei"/>
              </a:defRPr>
            </a:pPr>
            <a:r>
              <a:t>▷ 引用与无障碍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047" y="1828800"/>
            <a:ext cx="537956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102E"/>
                </a:solidFill>
                <a:latin typeface="Microsoft YaHei"/>
              </a:rPr>
              <a:t>④</a:t>
            </a:r>
            <a:r>
              <a:rPr sz="1100" b="1">
                <a:solidFill>
                  <a:srgbClr val="C8102E"/>
                </a:solidFill>
                <a:latin typeface="Microsoft YaHei"/>
              </a:rPr>
              <a:t> 引用友好锚点：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每个可答单元配稳定permalink与#锚点，内容块自包含，抽出即不丢语境。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047" y="2331720"/>
            <a:ext cx="537956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102E"/>
                </a:solidFill>
                <a:latin typeface="Microsoft YaHei"/>
              </a:rPr>
              <a:t>⑤</a:t>
            </a:r>
            <a:r>
              <a:rPr sz="1100" b="1">
                <a:solidFill>
                  <a:srgbClr val="C8102E"/>
                </a:solidFill>
                <a:latin typeface="Microsoft YaHei"/>
              </a:rPr>
              <a:t> 术语一致消歧：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首现缩略语给全称，同名异义加消歧页，与文档侧共用术语表。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047" y="2834640"/>
            <a:ext cx="537956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102E"/>
                </a:solidFill>
                <a:latin typeface="Microsoft YaHei"/>
              </a:rPr>
              <a:t>⑥</a:t>
            </a:r>
            <a:r>
              <a:rPr sz="1100" b="1">
                <a:solidFill>
                  <a:srgbClr val="C8102E"/>
                </a:solidFill>
                <a:latin typeface="Microsoft YaHei"/>
              </a:rPr>
              <a:t> a11y即AI可读：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图片alt、ARIA标签、音视频字幕/文本，直接喂给AI理解多模态内容。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66160"/>
            <a:ext cx="3560978" cy="64008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6280" y="3616960"/>
            <a:ext cx="3408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字不如表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6280" y="3845560"/>
            <a:ext cx="340857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31815"/>
                </a:solidFill>
                <a:latin typeface="Microsoft YaHei"/>
              </a:defRPr>
            </a:pPr>
            <a:r>
              <a:t>规格/对比类信息优先用表格、矩阵呈现，AI解析表格准确率显著高于段落。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2658" y="3566160"/>
            <a:ext cx="3560978" cy="64008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8858" y="3616960"/>
            <a:ext cx="3408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分层可扫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8858" y="3845560"/>
            <a:ext cx="340857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31815"/>
                </a:solidFill>
                <a:latin typeface="Microsoft YaHei"/>
              </a:defRPr>
            </a:pPr>
            <a:r>
              <a:t>标题→摘要→详情→证据四层，避免信息墙，AI与人都能快速定位。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65236" y="3566160"/>
            <a:ext cx="3560978" cy="64008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1436" y="3616960"/>
            <a:ext cx="34085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102E"/>
                </a:solidFill>
                <a:latin typeface="Microsoft YaHei"/>
              </a:defRPr>
            </a:pPr>
            <a:r>
              <a:t>元信息增强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1436" y="3845560"/>
            <a:ext cx="340857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31815"/>
                </a:solidFill>
                <a:latin typeface="Microsoft YaHei"/>
              </a:defRPr>
            </a:pPr>
            <a:r>
              <a:t>在TDK之外补作者、日期、版本、难度、前置，AI可判时效与相关性。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572000"/>
            <a:ext cx="10911535" cy="25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7360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31815"/>
                </a:solidFill>
                <a:latin typeface="Microsoft YaHei"/>
              </a:rPr>
              <a:t>原则：页面既给</a:t>
            </a:r>
            <a:r>
              <a:rPr sz="1200" b="1">
                <a:solidFill>
                  <a:srgbClr val="C8102E"/>
                </a:solidFill>
                <a:latin typeface="Microsoft YaHei"/>
              </a:rPr>
              <a:t>人眼</a:t>
            </a:r>
            <a:r>
              <a:rPr sz="1200" b="0">
                <a:solidFill>
                  <a:srgbClr val="231815"/>
                </a:solidFill>
                <a:latin typeface="Microsoft YaHei"/>
              </a:rPr>
              <a:t>看，也给</a:t>
            </a:r>
            <a:r>
              <a:rPr sz="1200" b="1">
                <a:solidFill>
                  <a:srgbClr val="C8102E"/>
                </a:solidFill>
                <a:latin typeface="Microsoft YaHei"/>
              </a:rPr>
              <a:t>AI眼</a:t>
            </a:r>
            <a:r>
              <a:rPr sz="1200" b="0">
                <a:solidFill>
                  <a:srgbClr val="231815"/>
                </a:solidFill>
                <a:latin typeface="Microsoft YaHei"/>
              </a:rPr>
              <a:t>读——同一份结构，两类读者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98989"/>
                </a:solidFill>
                <a:latin typeface="Microsoft YaHei"/>
              </a:defRPr>
            </a:pPr>
            <a:r>
              <a:t>开源社区 · 体验组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98989"/>
                </a:solidFill>
                <a:latin typeface="Microsoft Ya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8102E"/>
                </a:solidFill>
                <a:latin typeface="Microsoft YaHei"/>
              </a:defRPr>
            </a:pPr>
            <a:r>
              <a:t>结构与内容三项，拆到“步骤-产出-验收”可执行粒度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200"/>
              </a:spcAft>
            </a:pPr>
            <a:r>
              <a:rPr sz="1050" b="0">
                <a:solidFill>
                  <a:srgbClr val="231815"/>
                </a:solidFill>
                <a:latin typeface="Microsoft YaHei"/>
              </a:rPr>
              <a:t>语义结构、答感内容、动态可解析三项是体验侧的</a:t>
            </a:r>
          </a:p>
          <a:p>
            <a:pPr algn="l">
              <a:lnSpc>
                <a:spcPts val="1365"/>
              </a:lnSpc>
              <a:spcAft>
                <a:spcPts val="200"/>
              </a:spcAft>
            </a:pPr>
            <a:r>
              <a:rPr sz="1050" b="1">
                <a:solidFill>
                  <a:srgbClr val="C8102E"/>
                </a:solidFill>
                <a:latin typeface="Microsoft YaHei"/>
              </a:rPr>
              <a:t>地基</a:t>
            </a:r>
          </a:p>
          <a:p>
            <a:pPr algn="l">
              <a:lnSpc>
                <a:spcPts val="1365"/>
              </a:lnSpc>
              <a:spcAft>
                <a:spcPts val="200"/>
              </a:spcAft>
            </a:pPr>
            <a:r>
              <a:rPr sz="1050" b="0">
                <a:solidFill>
                  <a:srgbClr val="231815"/>
                </a:solidFill>
                <a:latin typeface="Microsoft YaHei"/>
              </a:rPr>
              <a:t>，必须落到具体步骤、明确产出物与可量化验收，否则易停在“提了方向没落地”。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115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102E"/>
                </a:solidFill>
                <a:latin typeface="Microsoft YaHei"/>
              </a:defRPr>
            </a:pPr>
            <a:r>
              <a:t>▷ 落地拆解（上）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60704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2560320"/>
                <a:gridCol w="256032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措施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执行步骤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产出物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验收标准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①语义结构对齐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①盘点全站页面型清单</a:t>
                      </a:r>
                    </a:p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②用article/section/nav重写骨架</a:t>
                      </a:r>
                    </a:p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③h1–h3层级审计，去除跳级与多h1</a:t>
                      </a:r>
                    </a:p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④Schema类型与字段校验（自动化）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《语义化结构规范》</a:t>
                      </a:r>
                    </a:p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组件库骨架改造</a:t>
                      </a:r>
                    </a:p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层级审计报告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Lighthouse语义分≥95</a:t>
                      </a:r>
                    </a:p>
                    <a:p>
                      <a:pPr algn="ctr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h层级零跳级</a:t>
                      </a:r>
                    </a:p>
                    <a:p>
                      <a:pPr algn="ctr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Schema零错误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②答感内容设计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①定义答感块：结论先行+问句标题+可截取摘要</a:t>
                      </a:r>
                    </a:p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②核心页型接入答感块</a:t>
                      </a:r>
                    </a:p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③A/B抽测AI截取命中率</a:t>
                      </a:r>
                    </a:p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④内容模板沉淀到编辑器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答感内容组件</a:t>
                      </a:r>
                    </a:p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页面型内容模板</a:t>
                      </a:r>
                    </a:p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核心页改造清单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核心页100%有答感摘要</a:t>
                      </a:r>
                    </a:p>
                    <a:p>
                      <a:pPr algn="ctr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AI直答命中抽测≥80%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③动态内容可解析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①排查依赖JS交互渲染的关键信息</a:t>
                      </a:r>
                    </a:p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②首屏关键信息HTML化/SSR</a:t>
                      </a:r>
                    </a:p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③折叠/Tab/弹窗核心内容提供可读回退</a:t>
                      </a:r>
                    </a:p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④禁JS视角回归测试+AI抓取验证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动态内容风险清单</a:t>
                      </a:r>
                    </a:p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渲染改造方案</a:t>
                      </a:r>
                    </a:p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回退样式规范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禁JS后关键信息可见率100%</a:t>
                      </a:r>
                    </a:p>
                    <a:p>
                      <a:pPr algn="ctr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AI抓取测试通过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4206240"/>
            <a:ext cx="3560978" cy="50292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6280" y="4244340"/>
            <a:ext cx="340857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102E"/>
                </a:solidFill>
                <a:latin typeface="Microsoft YaHei"/>
              </a:defRPr>
            </a:pPr>
            <a:r>
              <a:t>优先级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280" y="4460240"/>
            <a:ext cx="34085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31815"/>
                </a:solidFill>
                <a:latin typeface="Microsoft YaHei"/>
              </a:defRPr>
            </a:pPr>
            <a:r>
              <a:t>①②③按“结构→内容→动态”推进，①是②③的前置。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2658" y="4206240"/>
            <a:ext cx="3560978" cy="50292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8858" y="4244340"/>
            <a:ext cx="340857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102E"/>
                </a:solidFill>
                <a:latin typeface="Microsoft YaHei"/>
              </a:defRPr>
            </a:pPr>
            <a:r>
              <a:t>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8858" y="4460240"/>
            <a:ext cx="34085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31815"/>
                </a:solidFill>
                <a:latin typeface="Microsoft YaHei"/>
              </a:defRPr>
            </a:pPr>
            <a:r>
              <a:t>每项双OWNER：前端（结构/渲染）+ 内容（文案/摘要）。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65236" y="4206240"/>
            <a:ext cx="3560978" cy="50292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1436" y="4244340"/>
            <a:ext cx="340857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102E"/>
                </a:solidFill>
                <a:latin typeface="Microsoft YaHei"/>
              </a:defRPr>
            </a:pPr>
            <a:r>
              <a:t>避坑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1436" y="4460240"/>
            <a:ext cx="34085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31815"/>
                </a:solidFill>
                <a:latin typeface="Microsoft YaHei"/>
              </a:defRPr>
            </a:pPr>
            <a:r>
              <a:t>语义与视觉层级同源才是目标，非两套并行。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937760"/>
            <a:ext cx="10911535" cy="25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03936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31815"/>
                </a:solidFill>
                <a:latin typeface="Microsoft YaHei"/>
              </a:rPr>
              <a:t>地基项：</a:t>
            </a:r>
            <a:r>
              <a:rPr sz="1200" b="1">
                <a:solidFill>
                  <a:srgbClr val="C8102E"/>
                </a:solidFill>
                <a:latin typeface="Microsoft YaHei"/>
              </a:rPr>
              <a:t>结构</a:t>
            </a:r>
            <a:r>
              <a:rPr sz="1200" b="0">
                <a:solidFill>
                  <a:srgbClr val="231815"/>
                </a:solidFill>
                <a:latin typeface="Microsoft YaHei"/>
              </a:rPr>
              <a:t>不对，</a:t>
            </a:r>
            <a:r>
              <a:rPr sz="1200" b="1">
                <a:solidFill>
                  <a:srgbClr val="C8102E"/>
                </a:solidFill>
                <a:latin typeface="Microsoft YaHei"/>
              </a:rPr>
              <a:t>内容</a:t>
            </a:r>
            <a:r>
              <a:rPr sz="1200" b="0">
                <a:solidFill>
                  <a:srgbClr val="231815"/>
                </a:solidFill>
                <a:latin typeface="Microsoft YaHei"/>
              </a:rPr>
              <a:t>与</a:t>
            </a:r>
            <a:r>
              <a:rPr sz="1200" b="1">
                <a:solidFill>
                  <a:srgbClr val="C8102E"/>
                </a:solidFill>
                <a:latin typeface="Microsoft YaHei"/>
              </a:rPr>
              <a:t>引用</a:t>
            </a:r>
            <a:r>
              <a:rPr sz="1200" b="0">
                <a:solidFill>
                  <a:srgbClr val="231815"/>
                </a:solidFill>
                <a:latin typeface="Microsoft YaHei"/>
              </a:rPr>
              <a:t>都建不稳——三项必须按序交付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98989"/>
                </a:solidFill>
                <a:latin typeface="Microsoft YaHei"/>
              </a:defRPr>
            </a:pPr>
            <a:r>
              <a:t>开源社区 · 体验组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98989"/>
                </a:solidFill>
                <a:latin typeface="Microsoft Ya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8102E"/>
                </a:solidFill>
                <a:latin typeface="Microsoft YaHei"/>
              </a:defRPr>
            </a:pPr>
            <a:r>
              <a:t>引用锚点、术语消歧、a11y三项，把“可被AI引用”做实到链接级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65"/>
              </a:lnSpc>
              <a:spcAft>
                <a:spcPts val="200"/>
              </a:spcAft>
            </a:pPr>
            <a:r>
              <a:rPr sz="1050" b="0">
                <a:solidFill>
                  <a:srgbClr val="231815"/>
                </a:solidFill>
                <a:latin typeface="Microsoft YaHei"/>
              </a:rPr>
              <a:t>后三项决定内容能否被AI</a:t>
            </a:r>
          </a:p>
          <a:p>
            <a:pPr algn="l">
              <a:lnSpc>
                <a:spcPts val="1365"/>
              </a:lnSpc>
              <a:spcAft>
                <a:spcPts val="200"/>
              </a:spcAft>
            </a:pPr>
            <a:r>
              <a:rPr sz="1050" b="1">
                <a:solidFill>
                  <a:srgbClr val="C8102E"/>
                </a:solidFill>
                <a:latin typeface="Microsoft YaHei"/>
              </a:rPr>
              <a:t>稳定指向、准确复述、跨模态理解</a:t>
            </a:r>
          </a:p>
          <a:p>
            <a:pPr algn="l">
              <a:lnSpc>
                <a:spcPts val="1365"/>
              </a:lnSpc>
              <a:spcAft>
                <a:spcPts val="200"/>
              </a:spcAft>
            </a:pPr>
            <a:r>
              <a:rPr sz="1050" b="0">
                <a:solidFill>
                  <a:srgbClr val="231815"/>
                </a:solidFill>
                <a:latin typeface="Microsoft YaHei"/>
              </a:rPr>
              <a:t>；落地关键在 permalink 稳定性、术语单一信源、多模态文本化。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115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102E"/>
                </a:solidFill>
                <a:latin typeface="Microsoft YaHei"/>
              </a:defRPr>
            </a:pPr>
            <a:r>
              <a:t>▷ 落地拆解（下）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60704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2560320"/>
                <a:gridCol w="256032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措施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执行步骤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产出物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验收标准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④引用友好锚点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①为每个可答单元配稳定permalink（不含查询参数/版本号）</a:t>
                      </a:r>
                    </a:p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②内容块自包含化，去“详见XX”依赖</a:t>
                      </a:r>
                    </a:p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③#锚点语义化命名（如#快速开始）</a:t>
                      </a:r>
                    </a:p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④锚点存活巡检+外链迁移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锚点命名规范</a:t>
                      </a:r>
                    </a:p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permalink方案</a:t>
                      </a:r>
                    </a:p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存活巡检脚本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可答单元锚点覆盖率100%</a:t>
                      </a:r>
                    </a:p>
                    <a:p>
                      <a:pPr algn="ctr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锚点404=0</a:t>
                      </a:r>
                    </a:p>
                    <a:p>
                      <a:pPr algn="ctr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块自包含率≥95%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⑤术语一致消歧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①与文档侧共建统一术语表（同一概念同一名）</a:t>
                      </a:r>
                    </a:p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②首现缩略语自动内链全称</a:t>
                      </a:r>
                    </a:p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③同名异义建消歧页</a:t>
                      </a:r>
                    </a:p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④全站术语扫描去重，矛盾项归一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统一术语表v1</a:t>
                      </a:r>
                    </a:p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消歧页模板</a:t>
                      </a:r>
                    </a:p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术语扫描脚本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核心术语单一信源率100%</a:t>
                      </a:r>
                    </a:p>
                    <a:p>
                      <a:pPr algn="ctr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缩略语首现全称率100%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⑥a11y即AI可读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①图片alt补全（功能性图说用途、装饰图留空）</a:t>
                      </a:r>
                    </a:p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②ARIA标签规范（role/aria-label）</a:t>
                      </a:r>
                    </a:p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③音视频配字幕与全文文本</a:t>
                      </a:r>
                    </a:p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④a11y与AI可读联合审计，一次排查双用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a11y清单</a:t>
                      </a:r>
                    </a:p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多模态文本化方案</a:t>
                      </a:r>
                    </a:p>
                    <a:p>
                      <a:pPr algn="l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联合审计报告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图片alt覆盖率100%</a:t>
                      </a:r>
                    </a:p>
                    <a:p>
                      <a:pPr algn="ctr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音视频文本化率100%</a:t>
                      </a:r>
                    </a:p>
                    <a:p>
                      <a:pPr algn="ctr">
                        <a:defRPr sz="85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WCAG AA达标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4206240"/>
            <a:ext cx="3560978" cy="50292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6280" y="4244340"/>
            <a:ext cx="340857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102E"/>
                </a:solidFill>
                <a:latin typeface="Microsoft YaHei"/>
              </a:defRPr>
            </a:pPr>
            <a:r>
              <a:t>permalink优先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280" y="4460240"/>
            <a:ext cx="34085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31815"/>
                </a:solidFill>
                <a:latin typeface="Microsoft YaHei"/>
              </a:defRPr>
            </a:pPr>
            <a:r>
              <a:t>锚点稳定性&gt;数量，先冻结URL再扩内容，避免AI引用后大面积404。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2658" y="4206240"/>
            <a:ext cx="3560978" cy="50292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8858" y="4244340"/>
            <a:ext cx="340857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102E"/>
                </a:solidFill>
                <a:latin typeface="Microsoft YaHei"/>
              </a:defRPr>
            </a:pPr>
            <a:r>
              <a:t>术语是两侧桥梁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8858" y="4460240"/>
            <a:ext cx="34085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31815"/>
                </a:solidFill>
                <a:latin typeface="Microsoft YaHei"/>
              </a:defRPr>
            </a:pPr>
            <a:r>
              <a:t>术语表由体验+文档共维护，是两侧不脱节的关键抓手。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65236" y="4206240"/>
            <a:ext cx="3560978" cy="50292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1436" y="4244340"/>
            <a:ext cx="340857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102E"/>
                </a:solidFill>
                <a:latin typeface="Microsoft YaHei"/>
              </a:defRPr>
            </a:pPr>
            <a:r>
              <a:t>一次投入双收益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1436" y="4460240"/>
            <a:ext cx="34085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31815"/>
                </a:solidFill>
                <a:latin typeface="Microsoft YaHei"/>
              </a:defRPr>
            </a:pPr>
            <a:r>
              <a:t>a11y与AI可读同向，alt/ARIA/字幕既服务残障用户也服务AI。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937760"/>
            <a:ext cx="10911535" cy="25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03936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31815"/>
                </a:solidFill>
                <a:latin typeface="Microsoft YaHei"/>
              </a:rPr>
              <a:t>做实到链接级：</a:t>
            </a:r>
            <a:r>
              <a:rPr sz="1200" b="1">
                <a:solidFill>
                  <a:srgbClr val="C8102E"/>
                </a:solidFill>
                <a:latin typeface="Microsoft YaHei"/>
              </a:rPr>
              <a:t>稳定URL</a:t>
            </a:r>
            <a:r>
              <a:rPr sz="1200" b="0">
                <a:solidFill>
                  <a:srgbClr val="231815"/>
                </a:solidFill>
                <a:latin typeface="Microsoft YaHei"/>
              </a:rPr>
              <a:t> + </a:t>
            </a:r>
            <a:r>
              <a:rPr sz="1200" b="1">
                <a:solidFill>
                  <a:srgbClr val="C8102E"/>
                </a:solidFill>
                <a:latin typeface="Microsoft YaHei"/>
              </a:rPr>
              <a:t>单一术语</a:t>
            </a:r>
            <a:r>
              <a:rPr sz="1200" b="0">
                <a:solidFill>
                  <a:srgbClr val="231815"/>
                </a:solidFill>
                <a:latin typeface="Microsoft YaHei"/>
              </a:rPr>
              <a:t> + </a:t>
            </a:r>
            <a:r>
              <a:rPr sz="1200" b="1">
                <a:solidFill>
                  <a:srgbClr val="C8102E"/>
                </a:solidFill>
                <a:latin typeface="Microsoft YaHei"/>
              </a:rPr>
              <a:t>多模态文本</a:t>
            </a:r>
            <a:r>
              <a:rPr sz="1200" b="0">
                <a:solidFill>
                  <a:srgbClr val="231815"/>
                </a:solidFill>
                <a:latin typeface="Microsoft YaHei"/>
              </a:rPr>
              <a:t> = AI可稳定引用的基石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98989"/>
                </a:solidFill>
                <a:latin typeface="Microsoft YaHei"/>
              </a:defRPr>
            </a:pPr>
            <a:r>
              <a:t>开源社区 · 体验组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98989"/>
                </a:solidFill>
                <a:latin typeface="Microsoft Ya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8102E"/>
                </a:solidFill>
                <a:latin typeface="Microsoft YaHei"/>
              </a:defRPr>
            </a:pPr>
            <a:r>
              <a:t>文档侧：以结构化与上下文完备，让文档“被AI准确复述”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0">
                <a:solidFill>
                  <a:srgbClr val="231815"/>
                </a:solidFill>
                <a:latin typeface="Microsoft YaHei"/>
              </a:rPr>
              <a:t>七项措施围绕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1">
                <a:solidFill>
                  <a:srgbClr val="C8102E"/>
                </a:solidFill>
                <a:latin typeface="Microsoft YaHei"/>
              </a:rPr>
              <a:t>结构标准、上下文自完备、代码可执行、术语图谱、FAQ场景化、时效信号、llms.txt深化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0">
                <a:solidFill>
                  <a:srgbClr val="231815"/>
                </a:solidFill>
                <a:latin typeface="Microsoft YaHei"/>
              </a:rPr>
              <a:t>，把散文档变成AI可信赖的知识源。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53795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102E"/>
                </a:solidFill>
                <a:latin typeface="Microsoft YaHei"/>
              </a:defRPr>
            </a:pPr>
            <a:r>
              <a:t>▷ 结构与上下文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37956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102E"/>
                </a:solidFill>
                <a:latin typeface="Microsoft YaHei"/>
              </a:rPr>
              <a:t>①</a:t>
            </a:r>
            <a:r>
              <a:rPr sz="1100" b="1">
                <a:solidFill>
                  <a:srgbClr val="C8102E"/>
                </a:solidFill>
                <a:latin typeface="Microsoft YaHei"/>
              </a:rPr>
              <a:t> frontmatter标准：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统一title/summary/type/audience/version/updated/related，全量合规。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537956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102E"/>
                </a:solidFill>
                <a:latin typeface="Microsoft YaHei"/>
              </a:rPr>
              <a:t>②</a:t>
            </a:r>
            <a:r>
              <a:rPr sz="1100" b="1">
                <a:solidFill>
                  <a:srgbClr val="C8102E"/>
                </a:solidFill>
                <a:latin typeface="Microsoft YaHei"/>
              </a:rPr>
              <a:t> 上下文自完备：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每文档写明前置概念、适用范围、版本兼容，内联关键背景而非“另见”。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537956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102E"/>
                </a:solidFill>
                <a:latin typeface="Microsoft YaHei"/>
              </a:rPr>
              <a:t>③</a:t>
            </a:r>
            <a:r>
              <a:rPr sz="1100" b="1">
                <a:solidFill>
                  <a:srgbClr val="C8102E"/>
                </a:solidFill>
                <a:latin typeface="Microsoft YaHei"/>
              </a:rPr>
              <a:t> 术语表+概念图谱：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集中术语表自动内链，概念关系图可视化，降低AI误读。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047" y="1508760"/>
            <a:ext cx="53795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102E"/>
                </a:solidFill>
                <a:latin typeface="Microsoft YaHei"/>
              </a:defRPr>
            </a:pPr>
            <a:r>
              <a:t>▷ 可执行与场景化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047" y="1828800"/>
            <a:ext cx="537956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8102E"/>
                </a:solidFill>
                <a:latin typeface="Microsoft YaHei"/>
              </a:rPr>
              <a:t>④</a:t>
            </a:r>
            <a:r>
              <a:rPr sz="1000" b="1">
                <a:solidFill>
                  <a:srgbClr val="C8102E"/>
                </a:solidFill>
                <a:latin typeface="Microsoft YaHei"/>
              </a:rPr>
              <a:t> 代码可执行：</a:t>
            </a:r>
            <a:r>
              <a:rPr sz="950">
                <a:solidFill>
                  <a:srgbClr val="231815"/>
                </a:solidFill>
                <a:latin typeface="Microsoft YaHei"/>
              </a:rPr>
              <a:t>示例完整可运行，标注依赖/环境/预期输出，AI可验证复用。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047" y="2331720"/>
            <a:ext cx="537956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8102E"/>
                </a:solidFill>
                <a:latin typeface="Microsoft YaHei"/>
              </a:rPr>
              <a:t>⑤</a:t>
            </a:r>
            <a:r>
              <a:rPr sz="1000" b="1">
                <a:solidFill>
                  <a:srgbClr val="C8102E"/>
                </a:solidFill>
                <a:latin typeface="Microsoft YaHei"/>
              </a:rPr>
              <a:t> FAQ场景化：</a:t>
            </a:r>
            <a:r>
              <a:rPr sz="950">
                <a:solidFill>
                  <a:srgbClr val="231815"/>
                </a:solidFill>
                <a:latin typeface="Microsoft YaHei"/>
              </a:rPr>
              <a:t>常见问题转Q&amp;A式（问句作标题），AI直答命中率高。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047" y="2834640"/>
            <a:ext cx="537956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8102E"/>
                </a:solidFill>
                <a:latin typeface="Microsoft YaHei"/>
              </a:rPr>
              <a:t>⑥</a:t>
            </a:r>
            <a:r>
              <a:rPr sz="1000" b="1">
                <a:solidFill>
                  <a:srgbClr val="C8102E"/>
                </a:solidFill>
                <a:latin typeface="Microsoft YaHei"/>
              </a:rPr>
              <a:t> 版本时效信号：</a:t>
            </a:r>
            <a:r>
              <a:rPr sz="950">
                <a:solidFill>
                  <a:srgbClr val="231815"/>
                </a:solidFill>
                <a:latin typeface="Microsoft YaHei"/>
              </a:rPr>
              <a:t>每页标注last-updated/适用版本/弃用状态，changelog机器可读。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047" y="3337560"/>
            <a:ext cx="537956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8102E"/>
                </a:solidFill>
                <a:latin typeface="Microsoft YaHei"/>
              </a:rPr>
              <a:t>⑦</a:t>
            </a:r>
            <a:r>
              <a:rPr sz="1000" b="1">
                <a:solidFill>
                  <a:srgbClr val="C8102E"/>
                </a:solidFill>
                <a:latin typeface="Microsoft YaHei"/>
              </a:rPr>
              <a:t> llms.txt深化：</a:t>
            </a:r>
            <a:r>
              <a:rPr sz="950">
                <a:solidFill>
                  <a:srgbClr val="231815"/>
                </a:solidFill>
                <a:latin typeface="Microsoft YaHei"/>
              </a:rPr>
              <a:t>从“已上线”到“分级优先+主题分组+Start Here”，给AI一份导览地图。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3840480"/>
          <a:ext cx="97840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92608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措施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现状(基线)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年底目标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度量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frontmatter合规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部分文档无元信息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核心文档100%合规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脚本扫描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代码可执行率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多为片段缺依赖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核心示例≥90%可运行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CI校验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FAQ覆盖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零散Issue/工单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Top30问题Q&amp;A化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命中抽测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文档去重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同主题多页矛盾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每主题单一信源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去重审计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98989"/>
                </a:solidFill>
                <a:latin typeface="Microsoft YaHei"/>
              </a:defRPr>
            </a:pPr>
            <a:r>
              <a:t>开源社区 · 体验组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98989"/>
                </a:solidFill>
                <a:latin typeface="Microsoft Ya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8102E"/>
                </a:solidFill>
                <a:latin typeface="Microsoft YaHei"/>
              </a:defRPr>
            </a:pPr>
            <a:r>
              <a:t>三阶段推进：Q3筑基、Q4深化、年底闭环度量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0">
                <a:solidFill>
                  <a:srgbClr val="231815"/>
                </a:solidFill>
                <a:latin typeface="Microsoft YaHei"/>
              </a:rPr>
              <a:t>按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1">
                <a:solidFill>
                  <a:srgbClr val="C8102E"/>
                </a:solidFill>
                <a:latin typeface="Microsoft YaHei"/>
              </a:rPr>
              <a:t>先标准、后落地、再度量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0">
                <a:solidFill>
                  <a:srgbClr val="231815"/>
                </a:solidFill>
                <a:latin typeface="Microsoft YaHei"/>
              </a:rPr>
              <a:t>节奏，每阶段两侧同步交付，避免一边先行一边空转。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188720" cy="274320"/>
          </a:xfrm>
          <a:prstGeom prst="rect">
            <a:avLst/>
          </a:prstGeom>
          <a:solidFill>
            <a:srgbClr val="59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880" y="15341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Q3 · 筑基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560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31815"/>
                </a:solidFill>
                <a:latin typeface="Microsoft YaHei"/>
              </a:defRPr>
            </a:pPr>
            <a:r>
              <a:t>定标准、清基线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35609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31815"/>
                </a:solidFill>
                <a:latin typeface="Microsoft YaHei"/>
              </a:defRPr>
            </a:pPr>
            <a:r>
              <a:t>体验：语义结构审计、动态内容排查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5609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31815"/>
                </a:solidFill>
                <a:latin typeface="Microsoft YaHei"/>
              </a:defRPr>
            </a:pPr>
            <a:r>
              <a:t>体验：答感内容模板与组件库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35609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31815"/>
                </a:solidFill>
                <a:latin typeface="Microsoft YaHei"/>
              </a:defRPr>
            </a:pPr>
            <a:r>
              <a:t>文档：frontmatter标准发布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35609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31815"/>
                </a:solidFill>
                <a:latin typeface="Microsoft YaHei"/>
              </a:defRPr>
            </a:pPr>
            <a:r>
              <a:t>文档：术语表v1、FAQ模板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35609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31815"/>
                </a:solidFill>
                <a:latin typeface="Microsoft YaHei"/>
              </a:defRPr>
            </a:pPr>
            <a:r>
              <a:t>共建：AI可读性评分体系v1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2658" y="1508760"/>
            <a:ext cx="1188720" cy="2743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3458" y="15341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Q4 · 深化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2658" y="1828800"/>
            <a:ext cx="3560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31815"/>
                </a:solidFill>
                <a:latin typeface="Microsoft YaHei"/>
              </a:defRPr>
            </a:pPr>
            <a:r>
              <a:t>广落地、去碎片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2658" y="2148840"/>
            <a:ext cx="35609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31815"/>
                </a:solidFill>
                <a:latin typeface="Microsoft YaHei"/>
              </a:defRPr>
            </a:pPr>
            <a:r>
              <a:t>体验：答感内容全量落地核心页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2658" y="2377440"/>
            <a:ext cx="35609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31815"/>
                </a:solidFill>
                <a:latin typeface="Microsoft YaHei"/>
              </a:defRPr>
            </a:pPr>
            <a:r>
              <a:t>体验：引用锚点+a11y整改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2658" y="2606040"/>
            <a:ext cx="35609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31815"/>
                </a:solidFill>
                <a:latin typeface="Microsoft YaHei"/>
              </a:defRPr>
            </a:pPr>
            <a:r>
              <a:t>文档：代码示例可执行化改造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2658" y="2834640"/>
            <a:ext cx="35609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31815"/>
                </a:solidFill>
                <a:latin typeface="Microsoft YaHei"/>
              </a:defRPr>
            </a:pPr>
            <a:r>
              <a:t>文档：llms.txt深化、文档去重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2658" y="3063240"/>
            <a:ext cx="35609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31815"/>
                </a:solidFill>
                <a:latin typeface="Microsoft YaHei"/>
              </a:defRPr>
            </a:pPr>
            <a:r>
              <a:t>共建：术语表全站内链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65236" y="1508760"/>
            <a:ext cx="1188720" cy="274320"/>
          </a:xfrm>
          <a:prstGeom prst="rect">
            <a:avLst/>
          </a:prstGeom>
          <a:solidFill>
            <a:srgbClr val="59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6036" y="15341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年底 · 闭环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65236" y="1828800"/>
            <a:ext cx="3560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31815"/>
                </a:solidFill>
                <a:latin typeface="Microsoft YaHei"/>
              </a:defRPr>
            </a:pPr>
            <a:r>
              <a:t>度量、迭代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65236" y="2148840"/>
            <a:ext cx="35609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31815"/>
                </a:solidFill>
                <a:latin typeface="Microsoft YaHei"/>
              </a:defRPr>
            </a:pPr>
            <a:r>
              <a:t>AI可读性评分全量上线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65236" y="2377440"/>
            <a:ext cx="35609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31815"/>
                </a:solidFill>
                <a:latin typeface="Microsoft YaHei"/>
              </a:defRPr>
            </a:pPr>
            <a:r>
              <a:t>AI引用准确率抽测报告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65236" y="2606040"/>
            <a:ext cx="35609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31815"/>
                </a:solidFill>
                <a:latin typeface="Microsoft YaHei"/>
              </a:defRPr>
            </a:pPr>
            <a:r>
              <a:t>主流AI助手曝光监测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5236" y="2834640"/>
            <a:ext cx="35609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31815"/>
                </a:solidFill>
                <a:latin typeface="Microsoft YaHei"/>
              </a:defRPr>
            </a:pPr>
            <a:r>
              <a:t>低分内容专项治理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65236" y="3063240"/>
            <a:ext cx="35609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31815"/>
                </a:solidFill>
                <a:latin typeface="Microsoft YaHei"/>
              </a:defRPr>
            </a:pPr>
            <a:r>
              <a:t>形成H1+H2连贯机制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840480"/>
            <a:ext cx="2702483" cy="100584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942080"/>
            <a:ext cx="27024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8102E"/>
                </a:solidFill>
                <a:latin typeface="Microsoft YaHei"/>
              </a:defRPr>
            </a:pPr>
            <a:r>
              <a:t>Q3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297680"/>
            <a:ext cx="27024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标准与基线</a:t>
            </a:r>
            <a:br/>
            <a:r>
              <a:t>合规率达标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67963" y="3840480"/>
            <a:ext cx="2702483" cy="100584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67963" y="3942080"/>
            <a:ext cx="27024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8102E"/>
                </a:solidFill>
                <a:latin typeface="Microsoft YaHei"/>
              </a:defRPr>
            </a:pPr>
            <a:r>
              <a:t>Q4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67963" y="4297680"/>
            <a:ext cx="27024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核心内容全量</a:t>
            </a:r>
            <a:br/>
            <a:r>
              <a:t>易读化落地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5847" y="3840480"/>
            <a:ext cx="2702483" cy="100584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5847" y="3942080"/>
            <a:ext cx="27024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8102E"/>
                </a:solidFill>
                <a:latin typeface="Microsoft YaHei"/>
              </a:defRPr>
            </a:pPr>
            <a:r>
              <a:t>年底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5847" y="4297680"/>
            <a:ext cx="27024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评分85/准确率+50%</a:t>
            </a:r>
            <a:br/>
            <a:r>
              <a:t>闭环迭代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23731" y="3840480"/>
            <a:ext cx="2702483" cy="100584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23731" y="3942080"/>
            <a:ext cx="27024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8102E"/>
                </a:solidFill>
                <a:latin typeface="Microsoft YaHei"/>
              </a:defRPr>
            </a:pPr>
            <a:r>
              <a:t>持续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731" y="4297680"/>
            <a:ext cx="27024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周度看板</a:t>
            </a:r>
            <a:br/>
            <a:r>
              <a:t>低分专项治理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98989"/>
                </a:solidFill>
                <a:latin typeface="Microsoft YaHei"/>
              </a:defRPr>
            </a:pPr>
            <a:r>
              <a:t>开源社区 · 体验组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98989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8102E"/>
                </a:solidFill>
                <a:latin typeface="Microsoft YaHei"/>
              </a:defRPr>
            </a:pPr>
            <a:r>
              <a:t>以AI可读性评分与引用准确率驱动迭代，避免“做了没人用”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0">
                <a:solidFill>
                  <a:srgbClr val="231815"/>
                </a:solidFill>
                <a:latin typeface="Microsoft YaHei"/>
              </a:rPr>
              <a:t>度量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1">
                <a:solidFill>
                  <a:srgbClr val="C8102E"/>
                </a:solidFill>
                <a:latin typeface="Microsoft YaHei"/>
              </a:rPr>
              <a:t>前置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0">
                <a:solidFill>
                  <a:srgbClr val="231815"/>
                </a:solidFill>
                <a:latin typeface="Microsoft YaHei"/>
              </a:rPr>
              <a:t>而非事后：每阶段产出可量化指标，低分内容进专项治理看板，确保投入可验证、可追责、可迭代。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8102E"/>
                </a:solidFill>
                <a:latin typeface="Microsoft YaHei"/>
              </a:defRPr>
            </a:pPr>
            <a:r>
              <a:t>▷ 核心指标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702483" cy="100584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30400"/>
            <a:ext cx="27024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8102E"/>
                </a:solidFill>
                <a:latin typeface="Microsoft YaHei"/>
              </a:defRPr>
            </a:pPr>
            <a:r>
              <a:t>85分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27024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AI可读性评分</a:t>
            </a:r>
            <a:br/>
            <a:r>
              <a:t>语义+上下文+可引用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7963" y="1828800"/>
            <a:ext cx="2702483" cy="100584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67963" y="1930400"/>
            <a:ext cx="27024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8102E"/>
                </a:solidFill>
                <a:latin typeface="Microsoft YaHei"/>
              </a:defRPr>
            </a:pPr>
            <a:r>
              <a:t>+50%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7963" y="2286000"/>
            <a:ext cx="27024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AI引用准确率</a:t>
            </a:r>
            <a:br/>
            <a:r>
              <a:t>抽测对比基线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1828800"/>
            <a:ext cx="2702483" cy="100584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5847" y="1930400"/>
            <a:ext cx="27024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8102E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7" y="2286000"/>
            <a:ext cx="27024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frontmatter合规率</a:t>
            </a:r>
            <a:br/>
            <a:r>
              <a:t>核心文档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3731" y="1828800"/>
            <a:ext cx="2702483" cy="100584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731" y="1930400"/>
            <a:ext cx="27024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8102E"/>
                </a:solidFill>
                <a:latin typeface="Microsoft YaHei"/>
              </a:defRPr>
            </a:pPr>
            <a:r>
              <a:t>≥90%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731" y="2286000"/>
            <a:ext cx="27024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代码示例可执行率</a:t>
            </a:r>
            <a:br/>
            <a:r>
              <a:t>CI校验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10896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8102E"/>
                </a:solidFill>
                <a:latin typeface="Microsoft YaHei"/>
              </a:defRPr>
            </a:pPr>
            <a:r>
              <a:t>▷ 评分维度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0080" y="3474720"/>
          <a:ext cx="105156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114800"/>
                <a:gridCol w="137160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考察点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权重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度量方式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语义结构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DOM语义、标题层级、Schema正确性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脚本扫描+人工抽审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上下文完备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摘要、前置、版本、适用范围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frontmatter合规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可引用性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稳定锚点、答感块、代码可执行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锚点覆盖+CI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时效与一致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更新信号、术语一致、单一信源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1815"/>
                          </a:solidFill>
                          <a:latin typeface="Microsoft YaHei"/>
                        </a:defRPr>
                      </a:pPr>
                      <a:r>
                        <a:t>去重审计+术语扫描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640080" y="4937760"/>
            <a:ext cx="10911535" cy="25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03936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31815"/>
                </a:solidFill>
                <a:latin typeface="Microsoft YaHei"/>
              </a:rPr>
              <a:t>机制：</a:t>
            </a:r>
            <a:r>
              <a:rPr sz="1200" b="1">
                <a:solidFill>
                  <a:srgbClr val="C8102E"/>
                </a:solidFill>
                <a:latin typeface="Microsoft YaHei"/>
              </a:rPr>
              <a:t>周度</a:t>
            </a:r>
            <a:r>
              <a:rPr sz="1200" b="0">
                <a:solidFill>
                  <a:srgbClr val="231815"/>
                </a:solidFill>
                <a:latin typeface="Microsoft YaHei"/>
              </a:rPr>
              <a:t>看板评分 → 低分</a:t>
            </a:r>
            <a:r>
              <a:rPr sz="1200" b="1">
                <a:solidFill>
                  <a:srgbClr val="C8102E"/>
                </a:solidFill>
                <a:latin typeface="Microsoft YaHei"/>
              </a:rPr>
              <a:t>专项治理</a:t>
            </a:r>
            <a:r>
              <a:rPr sz="1200" b="0">
                <a:solidFill>
                  <a:srgbClr val="231815"/>
                </a:solidFill>
                <a:latin typeface="Microsoft YaHei"/>
              </a:rPr>
              <a:t> → 复测验证，闭环到人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98989"/>
                </a:solidFill>
                <a:latin typeface="Microsoft YaHei"/>
              </a:defRPr>
            </a:pPr>
            <a:r>
              <a:t>开源社区 · 体验组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98989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8102E"/>
                </a:solidFill>
                <a:latin typeface="Microsoft YaHei"/>
              </a:defRPr>
            </a:pPr>
            <a:r>
              <a:t>以OWNER制与前置度量对冲“做完无人用、两边脱节”两大风险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0">
                <a:solidFill>
                  <a:srgbClr val="231815"/>
                </a:solidFill>
                <a:latin typeface="Microsoft YaHei"/>
              </a:rPr>
              <a:t>易读性建设最大风险不是没做，而是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1">
                <a:solidFill>
                  <a:srgbClr val="C8102E"/>
                </a:solidFill>
                <a:latin typeface="Microsoft YaHei"/>
              </a:rPr>
              <a:t>做了测不出效果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0">
                <a:solidFill>
                  <a:srgbClr val="231815"/>
                </a:solidFill>
                <a:latin typeface="Microsoft YaHei"/>
              </a:rPr>
              <a:t>、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1">
                <a:solidFill>
                  <a:srgbClr val="C8102E"/>
                </a:solidFill>
                <a:latin typeface="Microsoft YaHei"/>
              </a:rPr>
              <a:t>页面与文档各做各的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0">
                <a:solidFill>
                  <a:srgbClr val="231815"/>
                </a:solidFill>
                <a:latin typeface="Microsoft YaHei"/>
              </a:rPr>
              <a:t>；以制度与度量前置对冲。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3560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102E"/>
                </a:solidFill>
                <a:latin typeface="Microsoft YaHei"/>
              </a:defRPr>
            </a:pPr>
            <a:r>
              <a:t>▷ 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560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做完无人用：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无度量，无法证价值、无迭代方向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560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两侧脱节：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页面与文档术语/结构不一致，AI更困惑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3560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标准漂移：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AI标准快速演进，措施可能快速过时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560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过度优化：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为AI牺牲人类体验，本末倒置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2658" y="1508760"/>
            <a:ext cx="3560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102E"/>
                </a:solidFill>
                <a:latin typeface="Microsoft YaHei"/>
              </a:defRPr>
            </a:pPr>
            <a:r>
              <a:t>▷ 对冲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2658" y="1828800"/>
            <a:ext cx="3560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度量前置：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Q3即上线评分体系，边做边测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2658" y="2103120"/>
            <a:ext cx="3560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共同标准：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术语表/结构规范两侧共用一把尺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2658" y="2377440"/>
            <a:ext cx="3560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可迁移设计：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抓语义与上下文本质，不绑单一AI标准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2658" y="2651760"/>
            <a:ext cx="3560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同向原则：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易读性=人类可读性+a11y，本质同向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65236" y="1508760"/>
            <a:ext cx="3560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102E"/>
                </a:solidFill>
                <a:latin typeface="Microsoft YaHei"/>
              </a:defRPr>
            </a:pPr>
            <a:r>
              <a:t>▷ 保障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65236" y="1828800"/>
            <a:ext cx="3560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OWNER制：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每措施双OWNER（体验+文档）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65236" y="2103120"/>
            <a:ext cx="3560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周度看板：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评分/准确率/曝光三表同看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65236" y="2377440"/>
            <a:ext cx="3560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H1联动：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与可检索成果打通，不另起炉灶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5236" y="2651760"/>
            <a:ext cx="35609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C8102E"/>
                </a:solidFill>
                <a:latin typeface="Microsoft YaHei"/>
              </a:rPr>
              <a:t>▷ 自查清单：</a:t>
            </a:r>
            <a:r>
              <a:rPr sz="1050">
                <a:solidFill>
                  <a:srgbClr val="231815"/>
                </a:solidFill>
                <a:latin typeface="Microsoft YaHei"/>
              </a:rPr>
              <a:t>发布前AI可读性必检项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840480"/>
            <a:ext cx="10911535" cy="25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4208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31815"/>
                </a:solidFill>
                <a:latin typeface="Microsoft YaHei"/>
              </a:rPr>
              <a:t>底线：</a:t>
            </a:r>
            <a:r>
              <a:rPr sz="1200" b="1">
                <a:solidFill>
                  <a:srgbClr val="C8102E"/>
                </a:solidFill>
                <a:latin typeface="Microsoft YaHei"/>
              </a:rPr>
              <a:t>易读性</a:t>
            </a:r>
            <a:r>
              <a:rPr sz="1200" b="0">
                <a:solidFill>
                  <a:srgbClr val="231815"/>
                </a:solidFill>
                <a:latin typeface="Microsoft YaHei"/>
              </a:rPr>
              <a:t>与</a:t>
            </a:r>
            <a:r>
              <a:rPr sz="1200" b="1">
                <a:solidFill>
                  <a:srgbClr val="C8102E"/>
                </a:solidFill>
                <a:latin typeface="Microsoft YaHei"/>
              </a:rPr>
              <a:t>人类体验</a:t>
            </a:r>
            <a:r>
              <a:rPr sz="1200" b="0">
                <a:solidFill>
                  <a:srgbClr val="231815"/>
                </a:solidFill>
                <a:latin typeface="Microsoft YaHei"/>
              </a:rPr>
              <a:t>同向，不存在“为AI牺牲用户”的取舍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98989"/>
                </a:solidFill>
                <a:latin typeface="Microsoft YaHei"/>
              </a:defRPr>
            </a:pPr>
            <a:r>
              <a:t>开源社区 · 体验组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98989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9115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95757"/>
                </a:solidFill>
                <a:latin typeface="Microsoft YaHei"/>
              </a:defRPr>
            </a:pPr>
            <a:r>
              <a:t>收束 · 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C8102E"/>
                </a:solidFill>
                <a:latin typeface="Microsoft YaHei"/>
              </a:defRPr>
            </a:pPr>
            <a:r>
              <a:t>易读性是AI时代的SEO，</a:t>
            </a:r>
            <a:br/>
            <a:r>
              <a:t>先发即先得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0">
                <a:solidFill>
                  <a:srgbClr val="231815"/>
                </a:solidFill>
                <a:latin typeface="Microsoft YaHei"/>
              </a:rPr>
              <a:t>上半年解决AI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1">
                <a:solidFill>
                  <a:srgbClr val="C8102E"/>
                </a:solidFill>
                <a:latin typeface="Microsoft YaHei"/>
              </a:rPr>
              <a:t>找得到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0">
                <a:solidFill>
                  <a:srgbClr val="231815"/>
                </a:solidFill>
                <a:latin typeface="Microsoft YaHei"/>
              </a:rPr>
              <a:t>，下半年解决AI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1">
                <a:solidFill>
                  <a:srgbClr val="C8102E"/>
                </a:solidFill>
                <a:latin typeface="Microsoft YaHei"/>
              </a:rPr>
              <a:t>读得懂、引得准、推得动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0">
                <a:solidFill>
                  <a:srgbClr val="231815"/>
                </a:solidFill>
                <a:latin typeface="Microsoft YaHei"/>
              </a:rPr>
              <a:t>。体验设计侧与文档侧双轮驱动，以度量闭环确保落地——让社区内容成为主流AI助手的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1">
                <a:solidFill>
                  <a:srgbClr val="C8102E"/>
                </a:solidFill>
                <a:latin typeface="Microsoft YaHei"/>
              </a:rPr>
              <a:t>默认知识源</a:t>
            </a:r>
          </a:p>
          <a:p>
            <a:pPr algn="l">
              <a:lnSpc>
                <a:spcPts val="1430"/>
              </a:lnSpc>
              <a:spcAft>
                <a:spcPts val="200"/>
              </a:spcAft>
            </a:pPr>
            <a:r>
              <a:rPr sz="1100" b="0">
                <a:solidFill>
                  <a:srgbClr val="231815"/>
                </a:solidFill>
                <a:latin typeface="Microsoft YaHei"/>
              </a:rPr>
              <a:t>，沉淀长期引用惯性。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200400"/>
            <a:ext cx="2702483" cy="100584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302000"/>
            <a:ext cx="27024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8102E"/>
                </a:solidFill>
                <a:latin typeface="Microsoft YaHei"/>
              </a:defRPr>
            </a:pPr>
            <a:r>
              <a:t>读懂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27024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语义+上下文</a:t>
            </a:r>
            <a:br/>
            <a:r>
              <a:t>结构可判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7963" y="3200400"/>
            <a:ext cx="2702483" cy="100584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67963" y="3302000"/>
            <a:ext cx="27024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8102E"/>
                </a:solidFill>
                <a:latin typeface="Microsoft YaHei"/>
              </a:defRPr>
            </a:pPr>
            <a:r>
              <a:t>引用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7963" y="3657600"/>
            <a:ext cx="27024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答感+锚点</a:t>
            </a:r>
            <a:br/>
            <a:r>
              <a:t>代码可执行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3200400"/>
            <a:ext cx="2702483" cy="100584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5847" y="3302000"/>
            <a:ext cx="27024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8102E"/>
                </a:solidFill>
                <a:latin typeface="Microsoft YaHei"/>
              </a:defRPr>
            </a:pPr>
            <a:r>
              <a:t>推荐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7" y="3657600"/>
            <a:ext cx="27024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llms.txt深化</a:t>
            </a:r>
            <a:br/>
            <a:r>
              <a:t>FAQ场景化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3731" y="3200400"/>
            <a:ext cx="2702483" cy="1005840"/>
          </a:xfrm>
          <a:prstGeom prst="rect">
            <a:avLst/>
          </a:prstGeom>
          <a:noFill/>
          <a:ln w="12700">
            <a:solidFill>
              <a:srgbClr val="B5B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731" y="3302000"/>
            <a:ext cx="27024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8102E"/>
                </a:solidFill>
                <a:latin typeface="Microsoft YaHei"/>
              </a:defRPr>
            </a:pPr>
            <a:r>
              <a:t>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731" y="3657600"/>
            <a:ext cx="270248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95757"/>
                </a:solidFill>
                <a:latin typeface="Microsoft YaHei"/>
              </a:defRPr>
            </a:pPr>
            <a:r>
              <a:t>评分85</a:t>
            </a:r>
            <a:br/>
            <a:r>
              <a:t>准确率+50%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95757"/>
                </a:solidFill>
                <a:latin typeface="Microsoft YaHei"/>
              </a:defRPr>
            </a:pPr>
            <a:r>
              <a:t>开源社区体验组 · 2026 H2 · 网站AI易读性建设规划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2895" y="6492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98989"/>
                </a:solidFill>
                <a:latin typeface="Microsoft YaHei"/>
              </a:defRPr>
            </a:pPr>
            <a:r>
              <a:t>开源社区 · 体验组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98989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